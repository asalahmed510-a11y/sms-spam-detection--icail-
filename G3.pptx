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70" r:id="rId5"/>
    <p:sldId id="258" r:id="rId6"/>
    <p:sldId id="259" r:id="rId7"/>
    <p:sldId id="260" r:id="rId8"/>
    <p:sldId id="271" r:id="rId9"/>
    <p:sldId id="273" r:id="rId10"/>
    <p:sldId id="261" r:id="rId11"/>
    <p:sldId id="263" r:id="rId12"/>
    <p:sldId id="274" r:id="rId13"/>
    <p:sldId id="275" r:id="rId14"/>
    <p:sldId id="276" r:id="rId15"/>
    <p:sldId id="277" r:id="rId16"/>
    <p:sldId id="279" r:id="rId17"/>
    <p:sldId id="278" r:id="rId18"/>
    <p:sldId id="281" r:id="rId19"/>
    <p:sldId id="280" r:id="rId20"/>
    <p:sldId id="266" r:id="rId21"/>
    <p:sldId id="267" r:id="rId22"/>
    <p:sldId id="282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8000"/>
            <a:lum/>
          </a:blip>
          <a:srcRect/>
          <a:stretch>
            <a:fillRect l="6000" t="-7000" r="6000" b="6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6C54B-35E4-D050-EE9D-0E597B535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SMS Spam Detection Using AI</a:t>
            </a:r>
            <a:br>
              <a:rPr lang="en-US" b="1" dirty="0"/>
            </a:br>
            <a:r>
              <a:rPr lang="en-US" sz="3200" b="1" dirty="0"/>
              <a:t>G3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0E2676-9722-F53C-C040-86A11CB9C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“Protecting users from digital threats through AI”</a:t>
            </a:r>
          </a:p>
        </p:txBody>
      </p:sp>
    </p:spTree>
    <p:extLst>
      <p:ext uri="{BB962C8B-B14F-4D97-AF65-F5344CB8AC3E}">
        <p14:creationId xmlns:p14="http://schemas.microsoft.com/office/powerpoint/2010/main" val="1325718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257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SMS Spam Detection Using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4226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Ahmed Salah Ebrahim</a:t>
            </a:r>
          </a:p>
          <a:p>
            <a:pPr marL="0" indent="0" algn="ctr">
              <a:buNone/>
            </a:pPr>
            <a:r>
              <a:rPr lang="en-US" dirty="0"/>
              <a:t>Walaa Fathy</a:t>
            </a:r>
          </a:p>
          <a:p>
            <a:pPr marL="0" indent="0" algn="ctr">
              <a:buNone/>
            </a:pPr>
            <a:r>
              <a:rPr lang="en-US" dirty="0"/>
              <a:t>Mohamed Hamza</a:t>
            </a:r>
          </a:p>
          <a:p>
            <a:pPr marL="0" indent="0" algn="ctr">
              <a:buNone/>
            </a:pPr>
            <a:r>
              <a:rPr lang="en-US" dirty="0"/>
              <a:t>Nehal Sameh</a:t>
            </a:r>
          </a:p>
          <a:p>
            <a:pPr marL="0" indent="0" algn="ctr">
              <a:buNone/>
            </a:pPr>
            <a:r>
              <a:rPr lang="en-US" dirty="0"/>
              <a:t>Abdelrahman Atef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974FAD-E4C4-CD4D-F5C1-7F9698C9DB2F}"/>
              </a:ext>
            </a:extLst>
          </p:cNvPr>
          <p:cNvSpPr txBox="1">
            <a:spLocks/>
          </p:cNvSpPr>
          <p:nvPr/>
        </p:nvSpPr>
        <p:spPr>
          <a:xfrm>
            <a:off x="457200" y="2275333"/>
            <a:ext cx="8229600" cy="689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u="sng" dirty="0"/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6557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055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This Project?</a:t>
            </a:r>
            <a:br>
              <a:rPr lang="en-US" dirty="0"/>
            </a:br>
            <a:r>
              <a:rPr lang="en-US" dirty="0"/>
              <a:t>In today’s digital world, spam SMS messages are common and dangerous. They trick users into clicking harmful links or sharing personal information. Filtering them is essential for user safety.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A54D-A6E7-717C-2E12-512E1C52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lang="en-US" u="sng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B753F-473D-4CD0-FE41-1DC6C31A3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We Built:</a:t>
            </a:r>
            <a:br>
              <a:rPr lang="en-US" dirty="0"/>
            </a:br>
            <a:r>
              <a:rPr lang="en-US" dirty="0"/>
              <a:t>A lightweight, intelligent spam detector that automatically classifies SMS messages as “Spam” or “Ham” using machine learning.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66DE1-4A02-6FB5-A116-562E1ABAC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144" y="3993896"/>
            <a:ext cx="3791712" cy="25278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363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5341"/>
            <a:ext cx="8229600" cy="1143000"/>
          </a:xfrm>
        </p:spPr>
        <p:txBody>
          <a:bodyPr>
            <a:noAutofit/>
          </a:bodyPr>
          <a:lstStyle/>
          <a:p>
            <a:br>
              <a:rPr lang="en-US" u="sng" dirty="0"/>
            </a:br>
            <a:r>
              <a:rPr u="sng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54DA96-5623-BCC0-22D0-614347615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488" y="2303857"/>
            <a:ext cx="834231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Detect and separate spam messages from safe ones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Raise awareness of message-based scams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 a fast, small-scale, explainable model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 the power of ML on a small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24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Target Users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2B68271-0C78-972C-1032-826E3E80BD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856" y="2366802"/>
            <a:ext cx="898995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 mobile phone users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Students, parents, and employees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Any individual or small business concerned about message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2486"/>
            <a:ext cx="8229600" cy="1143000"/>
          </a:xfrm>
        </p:spPr>
        <p:txBody>
          <a:bodyPr>
            <a:noAutofit/>
          </a:bodyPr>
          <a:lstStyle/>
          <a:p>
            <a:br>
              <a:rPr lang="en-US" u="sng" dirty="0"/>
            </a:br>
            <a:r>
              <a:rPr lang="en-US" u="sng" dirty="0"/>
              <a:t>Key Features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7712"/>
            <a:ext cx="8229600" cy="4525963"/>
          </a:xfrm>
        </p:spPr>
        <p:txBody>
          <a:bodyPr/>
          <a:lstStyle/>
          <a:p>
            <a:r>
              <a:rPr lang="en-US" dirty="0"/>
              <a:t>Efficient Spam Detection</a:t>
            </a:r>
          </a:p>
          <a:p>
            <a:r>
              <a:rPr lang="en-US" dirty="0"/>
              <a:t>Fully Automated</a:t>
            </a:r>
          </a:p>
          <a:p>
            <a:r>
              <a:rPr lang="en-US" dirty="0"/>
              <a:t>Message Isolation</a:t>
            </a:r>
          </a:p>
          <a:p>
            <a:r>
              <a:rPr lang="en-US" dirty="0"/>
              <a:t>Warning &amp; Awareness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2E4B-9C66-815E-86F1-F37883D3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707D-E5DE-D59E-AA7F-7E3EA792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950976"/>
            <a:ext cx="8229600" cy="1143000"/>
          </a:xfrm>
        </p:spPr>
        <p:txBody>
          <a:bodyPr>
            <a:normAutofit/>
          </a:bodyPr>
          <a:lstStyle/>
          <a:p>
            <a:r>
              <a:rPr lang="en-US" u="sng" dirty="0"/>
              <a:t>Dataset Summary</a:t>
            </a:r>
            <a:endParaRPr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8C32D-E246-6977-35BA-76E541DE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028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Dataset:</a:t>
            </a:r>
            <a:r>
              <a:rPr lang="en-US" dirty="0"/>
              <a:t> Custom 200-message SMS dataset</a:t>
            </a:r>
          </a:p>
          <a:p>
            <a:r>
              <a:rPr lang="en-US" dirty="0"/>
              <a:t>100 labeled as “Ham”</a:t>
            </a:r>
          </a:p>
          <a:p>
            <a:r>
              <a:rPr lang="en-US" dirty="0"/>
              <a:t>100 labeled as “Spam”</a:t>
            </a:r>
          </a:p>
          <a:p>
            <a:r>
              <a:rPr lang="en-US" dirty="0"/>
              <a:t>Balanced and preprocessed</a:t>
            </a:r>
          </a:p>
          <a:p>
            <a:r>
              <a:rPr lang="en-US" dirty="0"/>
              <a:t>Messages are short and realistic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92C61-2700-EF16-674E-E815504C4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094"/>
          <a:stretch>
            <a:fillRect/>
          </a:stretch>
        </p:blipFill>
        <p:spPr>
          <a:xfrm>
            <a:off x="5736752" y="3088433"/>
            <a:ext cx="2950048" cy="132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6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62BE-F373-CDF8-5730-58C9171F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5C31-58EB-979F-557F-09631355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950976"/>
            <a:ext cx="8229600" cy="1143000"/>
          </a:xfrm>
        </p:spPr>
        <p:txBody>
          <a:bodyPr>
            <a:normAutofit/>
          </a:bodyPr>
          <a:lstStyle/>
          <a:p>
            <a:r>
              <a:rPr lang="en-US" u="sng" dirty="0"/>
              <a:t>Dataset Summary</a:t>
            </a:r>
            <a:endParaRPr u="sng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BCB8DA-79F4-8C5B-8A27-1541A7CD0E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214" y="2210566"/>
            <a:ext cx="887557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2</a:t>
            </a:r>
            <a:r>
              <a:rPr lang="en-US" b="1" baseline="30000" dirty="0"/>
              <a:t>nd</a:t>
            </a:r>
            <a:r>
              <a:rPr lang="en-US" b="1" dirty="0"/>
              <a:t> Dataset:</a:t>
            </a:r>
            <a:r>
              <a:rPr lang="en-US" dirty="0"/>
              <a:t> SMS Spam Collection Dataset Kaggle"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5,574 messages (ham &amp; spam)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Balanced enough for training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domain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/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25A2C1-1004-A408-0083-EB3A5D4A4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552"/>
          <a:stretch>
            <a:fillRect/>
          </a:stretch>
        </p:blipFill>
        <p:spPr>
          <a:xfrm>
            <a:off x="3396343" y="4418137"/>
            <a:ext cx="5394379" cy="18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41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575" y="49795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Tools and Technologies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C5CF048-9F2B-6609-9898-A216FC84E1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265" y="1829060"/>
            <a:ext cx="838822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Language: Python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Environment: Google </a:t>
            </a:r>
            <a:r>
              <a:rPr kumimoji="0" lang="en-US" altLang="en-US" sz="3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Colab</a:t>
            </a: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Libraries: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- “pandas”</a:t>
            </a:r>
            <a:r>
              <a:rPr lang="en-US" altLang="en-US" sz="3000" dirty="0"/>
              <a:t>: for data handling</a:t>
            </a:r>
            <a:endParaRPr kumimoji="0" lang="en-US" altLang="en-US" sz="3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000" dirty="0"/>
              <a:t>	- “scikit-learn”: methods and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000" dirty="0"/>
              <a:t>	 like TFIDF and Naive-Bayes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-</a:t>
            </a:r>
            <a:r>
              <a:rPr lang="en-US" altLang="en-US" dirty="0"/>
              <a:t> “TensorFlow” &amp; “</a:t>
            </a:r>
            <a:r>
              <a:rPr lang="en-US" altLang="en-US" dirty="0" err="1"/>
              <a:t>Keras</a:t>
            </a:r>
            <a:r>
              <a:rPr lang="en-US" altLang="en-US" dirty="0"/>
              <a:t>”: for deep learning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5BC847-D28B-4FE3-DC50-FB6E6682B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15" y="5359248"/>
            <a:ext cx="903515" cy="903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C10562-7BD2-6478-9822-BA37D5F5A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741" y="1795297"/>
            <a:ext cx="1414905" cy="141490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015AF24-580A-DA77-74DD-62456E5A7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580" y="5406364"/>
            <a:ext cx="1554156" cy="84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9345C3-80C2-7FA1-4154-71680F22D9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362" y="5152508"/>
            <a:ext cx="1414905" cy="14149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52C8CF-5031-3009-CDE2-2040064C49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6275" y="5363106"/>
            <a:ext cx="993710" cy="9937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51F0162-987F-DCF6-CB5E-1119FCB940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144" y="2583980"/>
            <a:ext cx="1414905" cy="1414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Demo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Libraries Importing: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Reading the dataset: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171B6C-5C57-59FE-4EA4-7B65F9497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632" y="2966927"/>
            <a:ext cx="6172735" cy="1204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25DF60-D909-A7CC-E596-E263561E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14" y="5372312"/>
            <a:ext cx="7109169" cy="8418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4030-48BA-C30B-761E-662BF9C47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4038-B118-E62E-C6AA-8A2CBA29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Demo /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71A73-9401-9DE5-FE77-D52D3A48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Dropping empty or </a:t>
            </a:r>
            <a:r>
              <a:rPr lang="en-US" dirty="0" err="1"/>
              <a:t>NaN</a:t>
            </a:r>
            <a:r>
              <a:rPr lang="en-US" dirty="0"/>
              <a:t> messages: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Ensuring all messages are strings: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4A7E0-8854-D8FC-5673-F065B60C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74" y="3020813"/>
            <a:ext cx="6795449" cy="816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19111-CEBF-93B2-1BD9-C345DD383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41" y="5255490"/>
            <a:ext cx="6811781" cy="107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10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D424-EB5C-A706-3B20-EA1F620D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728D-0239-8D33-EA45-A1D750054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Demo /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3751-E90A-9FF5-2DA5-EACBE658B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Converting labels (mapping):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Spliting</a:t>
            </a:r>
            <a:r>
              <a:rPr lang="en-US" dirty="0"/>
              <a:t> data to training and testing: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8AA79-2BEA-B082-1D8E-704194E4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6" y="2941320"/>
            <a:ext cx="7782867" cy="853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14546-331E-A14C-A326-34E9D4AE3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1" y="5345390"/>
            <a:ext cx="855832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92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4323-D78D-B2E5-DD7E-8726EA95C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1FDB-9610-A3B4-57BB-84AEE68F0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Demo /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27118-D544-D9D4-2F22-8355FE46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Vectorizing (turning text into features/weights):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Training the model using </a:t>
            </a:r>
            <a:r>
              <a:rPr lang="en-US" dirty="0" err="1"/>
              <a:t>MultinomialNB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AA9C9-43CB-1760-41BA-EB2362F47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6" y="2831573"/>
            <a:ext cx="6401000" cy="1194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589711-A498-FFA5-B3D6-F9D4A8983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5155666"/>
            <a:ext cx="7114031" cy="145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48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F5DF1-8165-00D0-ADBA-75E7225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29B1-DFD0-43EA-5627-8172DB02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u="sng" dirty="0"/>
              <a:t>Demo /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A027-183C-66DC-8898-B8869159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1717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Prediction and evaluation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48C736-B1EC-C757-6170-671C07C1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014384"/>
            <a:ext cx="8129016" cy="129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E5B9-28CA-D79B-B0A8-B33A36D4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CC566-C93B-3040-4828-672AF4E5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lang="en-US" u="sng" dirty="0"/>
              <a:t>Testing and Results </a:t>
            </a:r>
            <a:endParaRPr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5DA63-9D08-97DE-DFB9-5517BF8A9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5891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Prediction and evaluation for 1</a:t>
            </a:r>
            <a:r>
              <a:rPr lang="en-US" baseline="30000" dirty="0"/>
              <a:t>st</a:t>
            </a:r>
            <a:r>
              <a:rPr lang="en-US" dirty="0"/>
              <a:t> dataset: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34DF9-9E0A-2D75-80B0-A20ABBD3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68" y="2292707"/>
            <a:ext cx="5930515" cy="22725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B40B34-C54F-4401-CA4D-836124DD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3" y="4386035"/>
            <a:ext cx="6582769" cy="234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02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2959-9888-5D3B-5A66-47886FBD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7EF0-36D8-1EE7-CB4E-6651A59F3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lang="en-US" u="sng" dirty="0"/>
              <a:t>Testing and Results </a:t>
            </a:r>
            <a:endParaRPr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AD58-9534-71DB-322D-84C019D76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5891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Prediction and evaluation for 2</a:t>
            </a:r>
            <a:r>
              <a:rPr lang="en-US" baseline="30000" dirty="0"/>
              <a:t>nd</a:t>
            </a:r>
            <a:r>
              <a:rPr lang="en-US" dirty="0"/>
              <a:t> dataset: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E419B6-CC49-F519-E33E-3CDC28A1E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78" y="2244029"/>
            <a:ext cx="6083810" cy="2369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CB7546-3D82-1EB4-A05C-013CD4FC3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151" y="4491918"/>
            <a:ext cx="5693664" cy="207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8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4FB6B-C840-C350-B0C7-2ABAA339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84A86-C789-DA51-CF16-19EDC678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lang="en-US" u="sng" dirty="0"/>
              <a:t>Testing and Results </a:t>
            </a:r>
            <a:endParaRPr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1ED831-70E8-A10C-3C8C-61AEDCB374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48" y="1872319"/>
            <a:ext cx="85951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also tested a lightweight neural network using: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Tokenization + Padding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Embedding Layer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GlobalAveragePooling1D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69E84-7E74-42E9-DDD2-BD21D70B3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98" y="4590230"/>
            <a:ext cx="8229200" cy="15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17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96B71-5BD5-2E21-6DBB-EB76C5045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E13C-C1E6-2B43-A2D5-5F7F94F9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352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/>
            </a:br>
            <a:r>
              <a:rPr lang="en-US" u="sng" dirty="0"/>
              <a:t>Testing and Results </a:t>
            </a:r>
            <a:endParaRPr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844975-F3B8-25F3-35DC-46D173512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48" y="1872319"/>
            <a:ext cx="859510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Accuracy was good, but not better than Naive Bayes due to limited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When we tried the larger data set, it worked well with high accuracy metrices.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80C8D1-98AE-9BC3-4278-1A999DF87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641" y="4134476"/>
            <a:ext cx="6534717" cy="23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13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" y="789423"/>
            <a:ext cx="8229600" cy="1143000"/>
          </a:xfrm>
        </p:spPr>
        <p:txBody>
          <a:bodyPr>
            <a:normAutofit/>
          </a:bodyPr>
          <a:lstStyle/>
          <a:p>
            <a:r>
              <a:rPr u="sng" dirty="0"/>
              <a:t>Final Output / Outcome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9C4CB13-A29A-A2B9-D5CE-63E8E7D2A4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95529"/>
            <a:ext cx="852830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/>
              <a:t>A fully functional spam detection model trained on real SMS messages, capable of classifying messages as </a:t>
            </a:r>
            <a:r>
              <a:rPr lang="en-US" sz="2800" b="1" dirty="0"/>
              <a:t>Spam</a:t>
            </a:r>
            <a:r>
              <a:rPr lang="en-US" sz="2800" dirty="0"/>
              <a:t> or </a:t>
            </a:r>
            <a:r>
              <a:rPr lang="en-US" sz="2800" b="1" dirty="0"/>
              <a:t>Ham</a:t>
            </a:r>
            <a:r>
              <a:rPr lang="en-US" sz="2800" dirty="0"/>
              <a:t> with high accuracy.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user can now receive and read messages safely without hesitation.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Spam and suspicious messages are detected and flagged immediately.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user is alerted before engaging with risky content, ensuring better protection of their personal data and digital identity.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environment becomes clean, organized, and safer for personal or business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43802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>
                <a:latin typeface="+mn-lt"/>
              </a:rPr>
            </a:br>
            <a:r>
              <a:rPr lang="en-US" u="sng" dirty="0">
                <a:latin typeface="+mn-lt"/>
              </a:rPr>
              <a:t>Conclusion and Future Work</a:t>
            </a:r>
            <a:endParaRPr u="sng" dirty="0">
              <a:latin typeface="+mn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605AFA-1356-50F1-6D11-3C1A85D16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371" y="2037874"/>
            <a:ext cx="9069561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Built a working SMS spam detection model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MultinomialNB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Demonstrated 99% accuracy on a small but balanced dataset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Learned real-world ML skills: text preprocessing, model training, and evaluation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Ready to expand this into more complex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BD59D-C1F3-5116-D5E0-05615510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1008-5311-4FE6-3D31-BD221383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1" y="443802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u="sng" dirty="0">
                <a:latin typeface="+mn-lt"/>
              </a:rPr>
            </a:br>
            <a:r>
              <a:rPr u="sng" dirty="0">
                <a:latin typeface="+mn-lt"/>
              </a:rPr>
              <a:t>Conclusion and Future 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2539061-E3BD-F387-DF71-4EDADBC8A4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969" y="2071996"/>
            <a:ext cx="836606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a larger dataset (5k+ SMS messages)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UI or app front-end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 on real-time message feeds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more models: Logistic Regression, SVM, or Transformers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E28C4-07C0-CC63-8EF3-DBE8D6E18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4626541"/>
            <a:ext cx="4808375" cy="201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352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71820-3334-242A-40C9-8ECA03A4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3D07-AAA3-4D4E-384C-9A3494E2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163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u="sng" dirty="0"/>
            </a:br>
            <a:r>
              <a:rPr b="1" u="sng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77F7-74F5-2FB4-E899-6910408E7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21992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Thank you</a:t>
            </a:r>
            <a:r>
              <a:rPr lang="en-US" dirty="0"/>
              <a:t> for your time</a:t>
            </a:r>
            <a:r>
              <a:rPr dirty="0"/>
              <a:t>!</a:t>
            </a:r>
          </a:p>
          <a:p>
            <a:pPr marL="0" indent="0" algn="ctr">
              <a:buNone/>
            </a:pPr>
            <a:r>
              <a:rPr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2490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597</Words>
  <Application>Microsoft Office PowerPoint</Application>
  <PresentationFormat>On-screen Show (4:3)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SMS Spam Detection Using AI G3</vt:lpstr>
      <vt:lpstr>SMS Spam Detection Using AI</vt:lpstr>
      <vt:lpstr> Introduction</vt:lpstr>
      <vt:lpstr> Introduction</vt:lpstr>
      <vt:lpstr> Objectives</vt:lpstr>
      <vt:lpstr> Target Users</vt:lpstr>
      <vt:lpstr> Key Features</vt:lpstr>
      <vt:lpstr>Dataset Summary</vt:lpstr>
      <vt:lpstr>Dataset Summary</vt:lpstr>
      <vt:lpstr> Tools and Technologies</vt:lpstr>
      <vt:lpstr> Demo / Screenshots</vt:lpstr>
      <vt:lpstr> Demo / Screenshots</vt:lpstr>
      <vt:lpstr> Demo / Screenshots</vt:lpstr>
      <vt:lpstr> Demo / Screenshots</vt:lpstr>
      <vt:lpstr> Demo / Screenshots</vt:lpstr>
      <vt:lpstr> Testing and Results </vt:lpstr>
      <vt:lpstr> Testing and Results </vt:lpstr>
      <vt:lpstr> Testing and Results </vt:lpstr>
      <vt:lpstr> Testing and Results </vt:lpstr>
      <vt:lpstr>Final Output / Outcome</vt:lpstr>
      <vt:lpstr> Conclusion and Future Work</vt:lpstr>
      <vt:lpstr> Conclusion and Future Work</vt:lpstr>
      <vt:lpstr>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>Abd El-Rahman</dc:creator>
  <cp:keywords/>
  <dc:description>generated using python-pptx</dc:description>
  <cp:lastModifiedBy>احمد صلاح ابراهيم محمود</cp:lastModifiedBy>
  <cp:revision>11</cp:revision>
  <dcterms:created xsi:type="dcterms:W3CDTF">2013-01-27T09:14:16Z</dcterms:created>
  <dcterms:modified xsi:type="dcterms:W3CDTF">2025-07-05T11:04:44Z</dcterms:modified>
  <cp:category/>
</cp:coreProperties>
</file>